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5" r:id="rId2"/>
  </p:sldIdLst>
  <p:sldSz cx="13716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A7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/>
    <p:restoredTop sz="94658"/>
  </p:normalViewPr>
  <p:slideViewPr>
    <p:cSldViewPr snapToGrid="0">
      <p:cViewPr varScale="1">
        <p:scale>
          <a:sx n="116" d="100"/>
          <a:sy n="116" d="100"/>
        </p:scale>
        <p:origin x="216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73B3F-8532-6E4C-9C19-67ABC8B5C4C3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00150" y="1143000"/>
            <a:ext cx="9258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31AE7-212B-8346-B3A3-05EB8519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8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00150" y="1143000"/>
            <a:ext cx="92583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31AE7-212B-8346-B3A3-05EB85199C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573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748242"/>
            <a:ext cx="102870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2401359"/>
            <a:ext cx="10287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6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907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139826"/>
            <a:ext cx="1183005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3059642"/>
            <a:ext cx="1183005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5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217083"/>
            <a:ext cx="58293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217083"/>
            <a:ext cx="58293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9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243417"/>
            <a:ext cx="118300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120775"/>
            <a:ext cx="5802510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1670050"/>
            <a:ext cx="580251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120775"/>
            <a:ext cx="5831087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1670050"/>
            <a:ext cx="5831087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7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348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03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04800"/>
            <a:ext cx="442376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658284"/>
            <a:ext cx="694372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371600"/>
            <a:ext cx="442376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3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04800"/>
            <a:ext cx="4423767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658284"/>
            <a:ext cx="694372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1371600"/>
            <a:ext cx="4423767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6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0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243416"/>
            <a:ext cx="295751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43416"/>
            <a:ext cx="870108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02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243417"/>
            <a:ext cx="118300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217083"/>
            <a:ext cx="118300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4237567"/>
            <a:ext cx="30861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13025-84F4-B745-969F-485E7E3339F4}" type="datetimeFigureOut">
              <a:rPr lang="en-US" smtClean="0"/>
              <a:t>10/21/25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4237567"/>
            <a:ext cx="46291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4237567"/>
            <a:ext cx="30861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55C7A-6940-9346-AB77-E5B6D68310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4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microsoft.com/office/2007/relationships/hdphoto" Target="../media/hdphoto4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microsoft.com/office/2007/relationships/hdphoto" Target="../media/hdphoto3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EBF6008-3078-316B-4433-43325D9ADB8E}"/>
              </a:ext>
            </a:extLst>
          </p:cNvPr>
          <p:cNvGrpSpPr/>
          <p:nvPr/>
        </p:nvGrpSpPr>
        <p:grpSpPr>
          <a:xfrm>
            <a:off x="402329" y="391124"/>
            <a:ext cx="12911342" cy="3789752"/>
            <a:chOff x="-144325" y="658368"/>
            <a:chExt cx="12911342" cy="378975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DB2939D-729F-06A1-A19D-140FF460BCCF}"/>
                </a:ext>
              </a:extLst>
            </p:cNvPr>
            <p:cNvGrpSpPr/>
            <p:nvPr/>
          </p:nvGrpSpPr>
          <p:grpSpPr>
            <a:xfrm>
              <a:off x="-144325" y="662609"/>
              <a:ext cx="2869214" cy="3785511"/>
              <a:chOff x="32137" y="662609"/>
              <a:chExt cx="2869214" cy="3785511"/>
            </a:xfrm>
          </p:grpSpPr>
          <p:sp>
            <p:nvSpPr>
              <p:cNvPr id="1088" name="TextBox 1087">
                <a:extLst>
                  <a:ext uri="{FF2B5EF4-FFF2-40B4-BE49-F238E27FC236}">
                    <a16:creationId xmlns:a16="http://schemas.microsoft.com/office/drawing/2014/main" id="{E54A7D44-ACFE-1C09-322F-9F192641069E}"/>
                  </a:ext>
                </a:extLst>
              </p:cNvPr>
              <p:cNvSpPr txBox="1"/>
              <p:nvPr/>
            </p:nvSpPr>
            <p:spPr>
              <a:xfrm>
                <a:off x="32137" y="4078788"/>
                <a:ext cx="2869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Avenir Next" panose="020B0503020202020204" pitchFamily="34" charset="0"/>
                  </a:rPr>
                  <a:t>Cross-embodiment data</a:t>
                </a:r>
                <a:endParaRPr lang="en-US" dirty="0">
                  <a:latin typeface="Avenir Next" panose="020B0503020202020204" pitchFamily="34" charset="0"/>
                </a:endParaRPr>
              </a:p>
            </p:txBody>
          </p:sp>
          <p:grpSp>
            <p:nvGrpSpPr>
              <p:cNvPr id="1090" name="Group 1089">
                <a:extLst>
                  <a:ext uri="{FF2B5EF4-FFF2-40B4-BE49-F238E27FC236}">
                    <a16:creationId xmlns:a16="http://schemas.microsoft.com/office/drawing/2014/main" id="{1D12B160-9E59-1090-F943-BAAB1FB491D5}"/>
                  </a:ext>
                </a:extLst>
              </p:cNvPr>
              <p:cNvGrpSpPr/>
              <p:nvPr/>
            </p:nvGrpSpPr>
            <p:grpSpPr>
              <a:xfrm>
                <a:off x="245116" y="2579276"/>
                <a:ext cx="2451752" cy="1477618"/>
                <a:chOff x="245117" y="2306309"/>
                <a:chExt cx="2451752" cy="1477618"/>
              </a:xfrm>
            </p:grpSpPr>
            <p:pic>
              <p:nvPicPr>
                <p:cNvPr id="1099" name="Picture 1098" descr="A person reaching for a mug&#10;&#10;Description automatically generated">
                  <a:extLst>
                    <a:ext uri="{FF2B5EF4-FFF2-40B4-BE49-F238E27FC236}">
                      <a16:creationId xmlns:a16="http://schemas.microsoft.com/office/drawing/2014/main" id="{78DD2ADB-DF76-6C16-2DF9-4C29DC0732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5117" y="2306309"/>
                  <a:ext cx="2451752" cy="1477618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  <a:effectLst>
                  <a:outerShdw blurRad="50800" dist="50800" dir="2700000" algn="ctr" rotWithShape="0">
                    <a:srgbClr val="000000">
                      <a:alpha val="20000"/>
                    </a:srgbClr>
                  </a:outerShdw>
                </a:effectLst>
              </p:spPr>
            </p:pic>
            <p:sp>
              <p:nvSpPr>
                <p:cNvPr id="1100" name="TextBox 1099">
                  <a:extLst>
                    <a:ext uri="{FF2B5EF4-FFF2-40B4-BE49-F238E27FC236}">
                      <a16:creationId xmlns:a16="http://schemas.microsoft.com/office/drawing/2014/main" id="{E379AA22-4EC2-615B-EC73-23D0605BEEA1}"/>
                    </a:ext>
                  </a:extLst>
                </p:cNvPr>
                <p:cNvSpPr txBox="1"/>
                <p:nvPr/>
              </p:nvSpPr>
              <p:spPr>
                <a:xfrm>
                  <a:off x="1676452" y="3414595"/>
                  <a:ext cx="1020417" cy="369332"/>
                </a:xfrm>
                <a:prstGeom prst="rect">
                  <a:avLst/>
                </a:prstGeom>
                <a:solidFill>
                  <a:schemeClr val="bg1">
                    <a:alpha val="5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dirty="0">
                      <a:latin typeface="Avenir Next" panose="020B0503020202020204" pitchFamily="34" charset="0"/>
                    </a:rPr>
                    <a:t>Human</a:t>
                  </a:r>
                  <a:endParaRPr lang="en-US" dirty="0"/>
                </a:p>
              </p:txBody>
            </p:sp>
          </p:grpSp>
          <p:grpSp>
            <p:nvGrpSpPr>
              <p:cNvPr id="1095" name="Group 1094">
                <a:extLst>
                  <a:ext uri="{FF2B5EF4-FFF2-40B4-BE49-F238E27FC236}">
                    <a16:creationId xmlns:a16="http://schemas.microsoft.com/office/drawing/2014/main" id="{455B1C75-680D-2B2F-27B9-E84AB6101373}"/>
                  </a:ext>
                </a:extLst>
              </p:cNvPr>
              <p:cNvGrpSpPr/>
              <p:nvPr/>
            </p:nvGrpSpPr>
            <p:grpSpPr>
              <a:xfrm>
                <a:off x="245117" y="662609"/>
                <a:ext cx="2451752" cy="1477618"/>
                <a:chOff x="245117" y="662609"/>
                <a:chExt cx="2451752" cy="1477618"/>
              </a:xfrm>
            </p:grpSpPr>
            <p:pic>
              <p:nvPicPr>
                <p:cNvPr id="1097" name="Picture 1096" descr="A coffee cup on a table&#10;&#10;Description automatically generated">
                  <a:extLst>
                    <a:ext uri="{FF2B5EF4-FFF2-40B4-BE49-F238E27FC236}">
                      <a16:creationId xmlns:a16="http://schemas.microsoft.com/office/drawing/2014/main" id="{71EBFA92-E229-F868-A19C-BCB637F6D8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5117" y="662609"/>
                  <a:ext cx="2451752" cy="1477618"/>
                </a:xfrm>
                <a:prstGeom prst="rect">
                  <a:avLst/>
                </a:prstGeom>
                <a:ln>
                  <a:solidFill>
                    <a:schemeClr val="accent1"/>
                  </a:solidFill>
                </a:ln>
                <a:effectLst>
                  <a:outerShdw blurRad="50800" dist="50800" dir="2700000" algn="ctr" rotWithShape="0">
                    <a:srgbClr val="000000">
                      <a:alpha val="20000"/>
                    </a:srgbClr>
                  </a:outerShdw>
                </a:effectLst>
              </p:spPr>
            </p:pic>
            <p:sp>
              <p:nvSpPr>
                <p:cNvPr id="1098" name="TextBox 1097">
                  <a:extLst>
                    <a:ext uri="{FF2B5EF4-FFF2-40B4-BE49-F238E27FC236}">
                      <a16:creationId xmlns:a16="http://schemas.microsoft.com/office/drawing/2014/main" id="{72D356A1-1EF5-E8AA-15DE-A7290BFCC31B}"/>
                    </a:ext>
                  </a:extLst>
                </p:cNvPr>
                <p:cNvSpPr txBox="1"/>
                <p:nvPr/>
              </p:nvSpPr>
              <p:spPr>
                <a:xfrm>
                  <a:off x="1676451" y="1770895"/>
                  <a:ext cx="1020417" cy="369332"/>
                </a:xfrm>
                <a:prstGeom prst="rect">
                  <a:avLst/>
                </a:prstGeom>
                <a:solidFill>
                  <a:schemeClr val="bg1">
                    <a:alpha val="5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TW" dirty="0">
                      <a:latin typeface="Avenir Next" panose="020B0503020202020204" pitchFamily="34" charset="0"/>
                    </a:rPr>
                    <a:t>Robot</a:t>
                  </a:r>
                  <a:endParaRPr lang="en-US" dirty="0"/>
                </a:p>
              </p:txBody>
            </p:sp>
          </p:grpSp>
          <p:sp>
            <p:nvSpPr>
              <p:cNvPr id="1096" name="TextBox 1095">
                <a:extLst>
                  <a:ext uri="{FF2B5EF4-FFF2-40B4-BE49-F238E27FC236}">
                    <a16:creationId xmlns:a16="http://schemas.microsoft.com/office/drawing/2014/main" id="{EB677438-E6E4-FB2B-ADCD-72063C13075C}"/>
                  </a:ext>
                </a:extLst>
              </p:cNvPr>
              <p:cNvSpPr txBox="1"/>
              <p:nvPr/>
            </p:nvSpPr>
            <p:spPr>
              <a:xfrm rot="5400000">
                <a:off x="1202285" y="2175086"/>
                <a:ext cx="555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Avenir Next" panose="020B0503020202020204" pitchFamily="34" charset="0"/>
                  </a:rPr>
                  <a:t>…</a:t>
                </a:r>
                <a:endParaRPr lang="en-US" dirty="0">
                  <a:latin typeface="Avenir Next" panose="020B0503020202020204" pitchFamily="3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8DA6459-920A-3B4E-77F3-AAC5861BB04E}"/>
                </a:ext>
              </a:extLst>
            </p:cNvPr>
            <p:cNvGrpSpPr/>
            <p:nvPr/>
          </p:nvGrpSpPr>
          <p:grpSpPr>
            <a:xfrm>
              <a:off x="3017537" y="662609"/>
              <a:ext cx="2593328" cy="3785511"/>
              <a:chOff x="3435325" y="662609"/>
              <a:chExt cx="2593328" cy="3785511"/>
            </a:xfrm>
          </p:grpSpPr>
          <p:pic>
            <p:nvPicPr>
              <p:cNvPr id="1073" name="Picture 1072" descr="A mug and a wooden stand&#10;&#10;Description automatically generated">
                <a:extLst>
                  <a:ext uri="{FF2B5EF4-FFF2-40B4-BE49-F238E27FC236}">
                    <a16:creationId xmlns:a16="http://schemas.microsoft.com/office/drawing/2014/main" id="{66E5DD2B-84CB-86EC-D67E-20F270AFCA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10000" b="90000" l="10000" r="90000">
                            <a14:foregroundMark x1="30804" y1="70370" x2="28795" y2="80370"/>
                            <a14:backgroundMark x1="28683" y1="41667" x2="31138" y2="45370"/>
                            <a14:backgroundMark x1="30915" y1="42037" x2="28237" y2="47963"/>
                            <a14:backgroundMark x1="30915" y1="47963" x2="29576" y2="48333"/>
                            <a14:backgroundMark x1="31808" y1="47963" x2="27344" y2="54630"/>
                            <a14:backgroundMark x1="28237" y1="46481" x2="27121" y2="53519"/>
                            <a14:backgroundMark x1="27790" y1="46111" x2="28683" y2="54259"/>
                            <a14:backgroundMark x1="32701" y1="46481" x2="35379" y2="56111"/>
                            <a14:backgroundMark x1="36496" y1="49444" x2="38281" y2="65741"/>
                            <a14:backgroundMark x1="35826" y1="63148" x2="37612" y2="69815"/>
                            <a14:backgroundMark x1="32254" y1="60556" x2="30022" y2="61296"/>
                            <a14:backgroundMark x1="38728" y1="50185" x2="35379" y2="49074"/>
                            <a14:backgroundMark x1="38058" y1="59815" x2="37612" y2="68333"/>
                            <a14:backgroundMark x1="39397" y1="78333" x2="38058" y2="69815"/>
                            <a14:backgroundMark x1="35379" y1="64630" x2="37612" y2="70926"/>
                            <a14:backgroundMark x1="36049" y1="69444" x2="37165" y2="73889"/>
                            <a14:backgroundMark x1="36719" y1="71667" x2="36719" y2="71667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06112" y="2579276"/>
                <a:ext cx="2451751" cy="147761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50800" dir="2700000" algn="ctr" rotWithShape="0">
                  <a:srgbClr val="000000">
                    <a:alpha val="20000"/>
                  </a:srgbClr>
                </a:outerShdw>
              </a:effectLst>
            </p:spPr>
          </p:pic>
          <p:pic>
            <p:nvPicPr>
              <p:cNvPr id="1077" name="Picture 1076" descr="A mug and a wooden stand&#10;&#10;Description automatically generated">
                <a:extLst>
                  <a:ext uri="{FF2B5EF4-FFF2-40B4-BE49-F238E27FC236}">
                    <a16:creationId xmlns:a16="http://schemas.microsoft.com/office/drawing/2014/main" id="{D62C58ED-0BB2-9408-F983-0C650BE8F5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28683" y1="68889" x2="26339" y2="84259"/>
                            <a14:backgroundMark x1="28348" y1="46296" x2="31027" y2="41481"/>
                            <a14:backgroundMark x1="29129" y1="45370" x2="28683" y2="50185"/>
                            <a14:backgroundMark x1="29241" y1="45000" x2="28795" y2="51852"/>
                            <a14:backgroundMark x1="27790" y1="52407" x2="27790" y2="52407"/>
                            <a14:backgroundMark x1="27567" y1="51852" x2="28348" y2="52963"/>
                            <a14:backgroundMark x1="29799" y1="44815" x2="35603" y2="50926"/>
                            <a14:backgroundMark x1="34152" y1="43704" x2="34040" y2="46296"/>
                            <a14:backgroundMark x1="27121" y1="43333" x2="30469" y2="42222"/>
                            <a14:backgroundMark x1="30469" y1="42037" x2="30469" y2="42037"/>
                            <a14:backgroundMark x1="24554" y1="46667" x2="24554" y2="46667"/>
                            <a14:backgroundMark x1="24554" y1="46667" x2="24554" y2="46667"/>
                            <a14:backgroundMark x1="24554" y1="46667" x2="24554" y2="46667"/>
                            <a14:backgroundMark x1="24554" y1="46667" x2="24554" y2="46667"/>
                            <a14:backgroundMark x1="30357" y1="44074" x2="30357" y2="44074"/>
                            <a14:backgroundMark x1="29911" y1="43333" x2="29911" y2="43333"/>
                            <a14:backgroundMark x1="29911" y1="43333" x2="29911" y2="43333"/>
                            <a14:backgroundMark x1="30246" y1="42778" x2="30246" y2="42778"/>
                            <a14:backgroundMark x1="30357" y1="42963" x2="30357" y2="42963"/>
                            <a14:backgroundMark x1="30357" y1="43333" x2="30357" y2="43333"/>
                            <a14:backgroundMark x1="30357" y1="43333" x2="30357" y2="43333"/>
                            <a14:backgroundMark x1="30022" y1="44259" x2="30022" y2="44259"/>
                            <a14:backgroundMark x1="30022" y1="44074" x2="30022" y2="44074"/>
                            <a14:backgroundMark x1="30022" y1="43704" x2="30022" y2="43704"/>
                            <a14:backgroundMark x1="30022" y1="42778" x2="30469" y2="41667"/>
                            <a14:backgroundMark x1="33482" y1="44630" x2="33705" y2="46111"/>
                            <a14:backgroundMark x1="32813" y1="43704" x2="32813" y2="43704"/>
                            <a14:backgroundMark x1="32813" y1="43704" x2="32813" y2="43704"/>
                            <a14:backgroundMark x1="30804" y1="42222" x2="30804" y2="42222"/>
                            <a14:backgroundMark x1="30804" y1="42037" x2="30804" y2="42037"/>
                            <a14:backgroundMark x1="31027" y1="42037" x2="31027" y2="42037"/>
                            <a14:backgroundMark x1="31027" y1="42037" x2="31027" y2="42037"/>
                            <a14:backgroundMark x1="30804" y1="42778" x2="30804" y2="42778"/>
                            <a14:backgroundMark x1="30804" y1="42778" x2="30804" y2="42778"/>
                            <a14:backgroundMark x1="30357" y1="43333" x2="30357" y2="43333"/>
                            <a14:backgroundMark x1="29911" y1="43519" x2="29911" y2="43519"/>
                            <a14:backgroundMark x1="29911" y1="43519" x2="30022" y2="44815"/>
                            <a14:backgroundMark x1="30246" y1="43704" x2="30246" y2="43704"/>
                            <a14:backgroundMark x1="30246" y1="43704" x2="30246" y2="43704"/>
                            <a14:backgroundMark x1="30357" y1="43333" x2="30357" y2="43333"/>
                            <a14:backgroundMark x1="31250" y1="40741" x2="31250" y2="40741"/>
                            <a14:backgroundMark x1="31250" y1="41296" x2="31250" y2="41296"/>
                            <a14:backgroundMark x1="31250" y1="41296" x2="31250" y2="41296"/>
                            <a14:backgroundMark x1="31473" y1="41296" x2="31473" y2="41296"/>
                            <a14:backgroundMark x1="31473" y1="41481" x2="31473" y2="41481"/>
                            <a14:backgroundMark x1="31585" y1="41481" x2="31585" y2="41481"/>
                            <a14:backgroundMark x1="31585" y1="41481" x2="31585" y2="41481"/>
                            <a14:backgroundMark x1="31473" y1="41481" x2="31473" y2="41481"/>
                            <a14:backgroundMark x1="31138" y1="41667" x2="31138" y2="41667"/>
                            <a14:backgroundMark x1="30804" y1="42593" x2="30804" y2="42593"/>
                            <a14:backgroundMark x1="30804" y1="42593" x2="30804" y2="42593"/>
                            <a14:backgroundMark x1="30804" y1="42593" x2="30804" y2="42593"/>
                            <a14:backgroundMark x1="30804" y1="42593" x2="30804" y2="42593"/>
                            <a14:backgroundMark x1="30804" y1="43333" x2="30804" y2="43333"/>
                            <a14:backgroundMark x1="30804" y1="43333" x2="30804" y2="43333"/>
                            <a14:backgroundMark x1="30357" y1="43333" x2="30357" y2="43333"/>
                            <a14:backgroundMark x1="30357" y1="43333" x2="30357" y2="43333"/>
                            <a14:backgroundMark x1="30357" y1="42963" x2="30357" y2="42963"/>
                            <a14:backgroundMark x1="30246" y1="42963" x2="30246" y2="42963"/>
                            <a14:backgroundMark x1="30246" y1="42963" x2="30246" y2="42963"/>
                            <a14:backgroundMark x1="30022" y1="43333" x2="30022" y2="43333"/>
                            <a14:backgroundMark x1="30022" y1="43519" x2="30022" y2="43519"/>
                            <a14:backgroundMark x1="30022" y1="43519" x2="30022" y2="43519"/>
                            <a14:backgroundMark x1="34933" y1="52963" x2="34933" y2="52963"/>
                            <a14:backgroundMark x1="35156" y1="52778" x2="35156" y2="52778"/>
                            <a14:backgroundMark x1="35603" y1="51852" x2="35603" y2="51852"/>
                            <a14:backgroundMark x1="35603" y1="51852" x2="35603" y2="51852"/>
                            <a14:backgroundMark x1="35603" y1="51852" x2="35603" y2="51852"/>
                            <a14:backgroundMark x1="35268" y1="52222" x2="35268" y2="52222"/>
                            <a14:backgroundMark x1="35156" y1="52778" x2="35156" y2="52778"/>
                            <a14:backgroundMark x1="35156" y1="51481" x2="35156" y2="51481"/>
                            <a14:backgroundMark x1="34375" y1="50185" x2="35268" y2="51111"/>
                            <a14:backgroundMark x1="33929" y1="51111" x2="35268" y2="51667"/>
                            <a14:backgroundMark x1="35603" y1="52407" x2="35603" y2="52407"/>
                            <a14:backgroundMark x1="35938" y1="52222" x2="35938" y2="52222"/>
                            <a14:backgroundMark x1="35938" y1="52222" x2="35938" y2="52222"/>
                            <a14:backgroundMark x1="35603" y1="51667" x2="35603" y2="51667"/>
                            <a14:backgroundMark x1="35603" y1="51667" x2="35603" y2="51667"/>
                            <a14:backgroundMark x1="35603" y1="51667" x2="35603" y2="51667"/>
                            <a14:backgroundMark x1="35603" y1="51481" x2="35603" y2="51481"/>
                            <a14:backgroundMark x1="35603" y1="51481" x2="35603" y2="51481"/>
                            <a14:backgroundMark x1="35603" y1="51111" x2="35603" y2="51111"/>
                            <a14:backgroundMark x1="35379" y1="51111" x2="36049" y2="53519"/>
                            <a14:backgroundMark x1="33147" y1="44815" x2="33147" y2="44815"/>
                            <a14:backgroundMark x1="33147" y1="44815" x2="33147" y2="44815"/>
                            <a14:backgroundMark x1="33147" y1="43519" x2="33147" y2="43519"/>
                            <a14:backgroundMark x1="32924" y1="44074" x2="32924" y2="44074"/>
                            <a14:backgroundMark x1="32924" y1="44074" x2="32924" y2="44074"/>
                            <a14:backgroundMark x1="33147" y1="43519" x2="33147" y2="43519"/>
                            <a14:backgroundMark x1="33147" y1="43519" x2="33147" y2="43519"/>
                            <a14:backgroundMark x1="32924" y1="43704" x2="32924" y2="43704"/>
                            <a14:backgroundMark x1="32924" y1="44074" x2="32924" y2="44074"/>
                            <a14:backgroundMark x1="32924" y1="43704" x2="32924" y2="43704"/>
                            <a14:backgroundMark x1="31138" y1="42778" x2="31138" y2="42778"/>
                            <a14:backgroundMark x1="30692" y1="42778" x2="30692" y2="42778"/>
                            <a14:backgroundMark x1="30692" y1="42778" x2="30692" y2="42778"/>
                            <a14:backgroundMark x1="30692" y1="42778" x2="30692" y2="42778"/>
                            <a14:backgroundMark x1="30692" y1="42778" x2="30692" y2="42778"/>
                            <a14:backgroundMark x1="30246" y1="43704" x2="30246" y2="43704"/>
                            <a14:backgroundMark x1="30022" y1="43519" x2="30022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30022" y1="41296" x2="30469" y2="44259"/>
                            <a14:backgroundMark x1="29911" y1="42778" x2="30469" y2="45370"/>
                            <a14:backgroundMark x1="34487" y1="42222" x2="34040" y2="44074"/>
                            <a14:backgroundMark x1="34487" y1="42593" x2="35714" y2="44074"/>
                            <a14:backgroundMark x1="31585" y1="40741" x2="31585" y2="40741"/>
                            <a14:backgroundMark x1="31585" y1="40741" x2="31585" y2="40741"/>
                            <a14:backgroundMark x1="19531" y1="40000" x2="24107" y2="46852"/>
                            <a14:backgroundMark x1="24330" y1="46481" x2="24330" y2="46481"/>
                            <a14:backgroundMark x1="24442" y1="47407" x2="24442" y2="47407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442" y1="46667" x2="24442" y2="46667"/>
                            <a14:backgroundMark x1="24442" y1="46111" x2="24442" y2="46111"/>
                            <a14:backgroundMark x1="24442" y1="46481" x2="24442" y2="46481"/>
                            <a14:backgroundMark x1="24665" y1="47407" x2="24665" y2="47407"/>
                            <a14:backgroundMark x1="24665" y1="47407" x2="24665" y2="47407"/>
                            <a14:backgroundMark x1="24442" y1="46852" x2="24442" y2="46852"/>
                            <a14:backgroundMark x1="24330" y1="46481" x2="24330" y2="46481"/>
                            <a14:backgroundMark x1="24330" y1="46852" x2="24330" y2="46852"/>
                            <a14:backgroundMark x1="24442" y1="46852" x2="24442" y2="46852"/>
                            <a14:backgroundMark x1="24442" y1="45926" x2="24442" y2="45926"/>
                            <a14:backgroundMark x1="24665" y1="46852" x2="24665" y2="46852"/>
                            <a14:backgroundMark x1="24665" y1="46852" x2="24665" y2="46852"/>
                            <a14:backgroundMark x1="24777" y1="49630" x2="24777" y2="49630"/>
                            <a14:backgroundMark x1="24666" y1="49630" x2="25112" y2="50000"/>
                            <a14:backgroundMark x1="23326" y1="48519" x2="24666" y2="49630"/>
                            <a14:backgroundMark x1="25095" y1="49630" x2="25335" y2="50000"/>
                            <a14:backgroundMark x1="23772" y1="47593" x2="25095" y2="49630"/>
                            <a14:backgroundMark x1="25123" y1="49630" x2="25670" y2="50185"/>
                            <a14:backgroundMark x1="23661" y1="48148" x2="25123" y2="49630"/>
                            <a14:backgroundMark x1="23549" y1="47778" x2="38058" y2="58519"/>
                            <a14:backgroundMark x1="38504" y1="46296" x2="37612" y2="58519"/>
                            <a14:backgroundMark x1="33594" y1="35556" x2="32031" y2="38889"/>
                            <a14:backgroundMark x1="26004" y1="55926" x2="25558" y2="58889"/>
                            <a14:backgroundMark x1="36719" y1="44074" x2="32254" y2="38148"/>
                            <a14:backgroundMark x1="30022" y1="36667" x2="33817" y2="44074"/>
                            <a14:backgroundMark x1="33371" y1="40000" x2="37835" y2="50000"/>
                            <a14:backgroundMark x1="36719" y1="43333" x2="38504" y2="49259"/>
                            <a14:backgroundMark x1="23103" y1="52222" x2="26004" y2="58889"/>
                            <a14:backgroundMark x1="25335" y1="54074" x2="27790" y2="59630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506113" y="662609"/>
                <a:ext cx="2451751" cy="147761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50800" dir="2700000" algn="ctr" rotWithShape="0">
                  <a:srgbClr val="000000">
                    <a:alpha val="20000"/>
                  </a:srgbClr>
                </a:outerShdw>
              </a:effectLst>
            </p:spPr>
          </p:pic>
          <p:sp>
            <p:nvSpPr>
              <p:cNvPr id="1078" name="TextBox 1077">
                <a:extLst>
                  <a:ext uri="{FF2B5EF4-FFF2-40B4-BE49-F238E27FC236}">
                    <a16:creationId xmlns:a16="http://schemas.microsoft.com/office/drawing/2014/main" id="{170FE1A6-34E8-5148-6F77-E0DDFC648CB7}"/>
                  </a:ext>
                </a:extLst>
              </p:cNvPr>
              <p:cNvSpPr txBox="1"/>
              <p:nvPr/>
            </p:nvSpPr>
            <p:spPr>
              <a:xfrm>
                <a:off x="3435325" y="4078788"/>
                <a:ext cx="25933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Avenir Next" panose="020B0503020202020204" pitchFamily="34" charset="0"/>
                  </a:rPr>
                  <a:t>Unified representation</a:t>
                </a:r>
                <a:endParaRPr lang="en-US" dirty="0">
                  <a:latin typeface="Avenir Next" panose="020B0503020202020204" pitchFamily="34" charset="0"/>
                </a:endParaRPr>
              </a:p>
            </p:txBody>
          </p:sp>
          <p:sp>
            <p:nvSpPr>
              <p:cNvPr id="1080" name="Oval 1079">
                <a:extLst>
                  <a:ext uri="{FF2B5EF4-FFF2-40B4-BE49-F238E27FC236}">
                    <a16:creationId xmlns:a16="http://schemas.microsoft.com/office/drawing/2014/main" id="{9C08A36C-1694-6CE5-1A50-E666ED8184B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10284" y="1357102"/>
                <a:ext cx="137160" cy="137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1" name="Oval 1080">
                <a:extLst>
                  <a:ext uri="{FF2B5EF4-FFF2-40B4-BE49-F238E27FC236}">
                    <a16:creationId xmlns:a16="http://schemas.microsoft.com/office/drawing/2014/main" id="{B25955B0-062E-5138-F9FD-8C7A94E90B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58893" y="1009086"/>
                <a:ext cx="137160" cy="1371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2" name="Oval 1081">
                <a:extLst>
                  <a:ext uri="{FF2B5EF4-FFF2-40B4-BE49-F238E27FC236}">
                    <a16:creationId xmlns:a16="http://schemas.microsoft.com/office/drawing/2014/main" id="{0A395568-3633-9040-7197-A017F85F9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1322" y="1357102"/>
                <a:ext cx="137160" cy="13716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4" name="Oval 1083">
                <a:extLst>
                  <a:ext uri="{FF2B5EF4-FFF2-40B4-BE49-F238E27FC236}">
                    <a16:creationId xmlns:a16="http://schemas.microsoft.com/office/drawing/2014/main" id="{ACB1D959-2F38-15A0-22B1-3D35C644E4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78864" y="3282089"/>
                <a:ext cx="137160" cy="137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5" name="Oval 1084">
                <a:extLst>
                  <a:ext uri="{FF2B5EF4-FFF2-40B4-BE49-F238E27FC236}">
                    <a16:creationId xmlns:a16="http://schemas.microsoft.com/office/drawing/2014/main" id="{48355603-B0AA-E1B0-6E00-624E90AE31C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26848" y="3016227"/>
                <a:ext cx="137160" cy="1371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6" name="Oval 1085">
                <a:extLst>
                  <a:ext uri="{FF2B5EF4-FFF2-40B4-BE49-F238E27FC236}">
                    <a16:creationId xmlns:a16="http://schemas.microsoft.com/office/drawing/2014/main" id="{EE2F9395-1CAF-2852-4BCE-1822C66130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44232" y="3356418"/>
                <a:ext cx="137160" cy="13716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399C2F40-1519-2004-8B24-565EFC4B4B29}"/>
                  </a:ext>
                </a:extLst>
              </p:cNvPr>
              <p:cNvSpPr txBox="1"/>
              <p:nvPr/>
            </p:nvSpPr>
            <p:spPr>
              <a:xfrm rot="5400000">
                <a:off x="4482787" y="2175086"/>
                <a:ext cx="5551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>
                    <a:latin typeface="Avenir Next" panose="020B0503020202020204" pitchFamily="34" charset="0"/>
                  </a:rPr>
                  <a:t>…</a:t>
                </a:r>
                <a:endParaRPr lang="en-US" dirty="0">
                  <a:latin typeface="Avenir Next" panose="020B0503020202020204" pitchFamily="34" charset="0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943161E-5B34-CBBE-BB04-E96C47327955}"/>
                </a:ext>
              </a:extLst>
            </p:cNvPr>
            <p:cNvGrpSpPr/>
            <p:nvPr/>
          </p:nvGrpSpPr>
          <p:grpSpPr>
            <a:xfrm>
              <a:off x="2323320" y="1629655"/>
              <a:ext cx="937875" cy="2025209"/>
              <a:chOff x="2437262" y="1629655"/>
              <a:chExt cx="937875" cy="2025209"/>
            </a:xfrm>
          </p:grpSpPr>
          <p:sp>
            <p:nvSpPr>
              <p:cNvPr id="1061" name="Freeform 1060">
                <a:extLst>
                  <a:ext uri="{FF2B5EF4-FFF2-40B4-BE49-F238E27FC236}">
                    <a16:creationId xmlns:a16="http://schemas.microsoft.com/office/drawing/2014/main" id="{F363B023-A0B4-E36D-2F12-1F7055A01672}"/>
                  </a:ext>
                </a:extLst>
              </p:cNvPr>
              <p:cNvSpPr/>
              <p:nvPr/>
            </p:nvSpPr>
            <p:spPr>
              <a:xfrm>
                <a:off x="2601184" y="1629655"/>
                <a:ext cx="628650" cy="400050"/>
              </a:xfrm>
              <a:custGeom>
                <a:avLst/>
                <a:gdLst>
                  <a:gd name="connsiteX0" fmla="*/ 0 w 628650"/>
                  <a:gd name="connsiteY0" fmla="*/ 0 h 400050"/>
                  <a:gd name="connsiteX1" fmla="*/ 285750 w 628650"/>
                  <a:gd name="connsiteY1" fmla="*/ 400050 h 400050"/>
                  <a:gd name="connsiteX2" fmla="*/ 628650 w 628650"/>
                  <a:gd name="connsiteY2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8650" h="400050">
                    <a:moveTo>
                      <a:pt x="0" y="0"/>
                    </a:moveTo>
                    <a:cubicBezTo>
                      <a:pt x="90487" y="200025"/>
                      <a:pt x="180975" y="400050"/>
                      <a:pt x="285750" y="400050"/>
                    </a:cubicBezTo>
                    <a:cubicBezTo>
                      <a:pt x="390525" y="400050"/>
                      <a:pt x="550545" y="45720"/>
                      <a:pt x="628650" y="0"/>
                    </a:cubicBezTo>
                  </a:path>
                </a:pathLst>
              </a:custGeom>
              <a:noFill/>
              <a:ln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65" name="Freeform 1064">
                <a:extLst>
                  <a:ext uri="{FF2B5EF4-FFF2-40B4-BE49-F238E27FC236}">
                    <a16:creationId xmlns:a16="http://schemas.microsoft.com/office/drawing/2014/main" id="{028033DB-D7A1-1FA8-B831-36091DE3C8F5}"/>
                  </a:ext>
                </a:extLst>
              </p:cNvPr>
              <p:cNvSpPr/>
              <p:nvPr/>
            </p:nvSpPr>
            <p:spPr>
              <a:xfrm flipV="1">
                <a:off x="2601184" y="2745162"/>
                <a:ext cx="628650" cy="400050"/>
              </a:xfrm>
              <a:custGeom>
                <a:avLst/>
                <a:gdLst>
                  <a:gd name="connsiteX0" fmla="*/ 0 w 628650"/>
                  <a:gd name="connsiteY0" fmla="*/ 0 h 400050"/>
                  <a:gd name="connsiteX1" fmla="*/ 285750 w 628650"/>
                  <a:gd name="connsiteY1" fmla="*/ 400050 h 400050"/>
                  <a:gd name="connsiteX2" fmla="*/ 628650 w 628650"/>
                  <a:gd name="connsiteY2" fmla="*/ 0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28650" h="400050">
                    <a:moveTo>
                      <a:pt x="0" y="0"/>
                    </a:moveTo>
                    <a:cubicBezTo>
                      <a:pt x="90487" y="200025"/>
                      <a:pt x="180975" y="400050"/>
                      <a:pt x="285750" y="400050"/>
                    </a:cubicBezTo>
                    <a:cubicBezTo>
                      <a:pt x="390525" y="400050"/>
                      <a:pt x="550545" y="45720"/>
                      <a:pt x="628650" y="0"/>
                    </a:cubicBezTo>
                  </a:path>
                </a:pathLst>
              </a:custGeom>
              <a:noFill/>
              <a:ln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66" name="Picture 4" descr="Neural - Free computer icons">
                <a:extLst>
                  <a:ext uri="{FF2B5EF4-FFF2-40B4-BE49-F238E27FC236}">
                    <a16:creationId xmlns:a16="http://schemas.microsoft.com/office/drawing/2014/main" id="{7C8790BD-9197-D923-0E5E-73FFB0696E3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90566" y="2046320"/>
                <a:ext cx="682227" cy="682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B4D6F5A5-BC02-18F1-C486-1791E1FE8142}"/>
                  </a:ext>
                </a:extLst>
              </p:cNvPr>
              <p:cNvSpPr txBox="1"/>
              <p:nvPr/>
            </p:nvSpPr>
            <p:spPr>
              <a:xfrm>
                <a:off x="2437262" y="2917497"/>
                <a:ext cx="9378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000" dirty="0">
                    <a:latin typeface="Avenir Next" panose="020B0503020202020204" pitchFamily="34" charset="0"/>
                  </a:rPr>
                  <a:t>SAM2</a:t>
                </a:r>
              </a:p>
              <a:p>
                <a:pPr algn="ctr"/>
                <a:r>
                  <a:rPr lang="en-US" sz="1000" dirty="0">
                    <a:latin typeface="Avenir Next" panose="020B0503020202020204" pitchFamily="34" charset="0"/>
                  </a:rPr>
                  <a:t>Tracker</a:t>
                </a:r>
              </a:p>
            </p:txBody>
          </p:sp>
          <p:sp>
            <p:nvSpPr>
              <p:cNvPr id="1070" name="TextBox 1069">
                <a:extLst>
                  <a:ext uri="{FF2B5EF4-FFF2-40B4-BE49-F238E27FC236}">
                    <a16:creationId xmlns:a16="http://schemas.microsoft.com/office/drawing/2014/main" id="{4CE6C555-7E13-8161-9397-1EABDEE9BC39}"/>
                  </a:ext>
                </a:extLst>
              </p:cNvPr>
              <p:cNvSpPr txBox="1"/>
              <p:nvPr/>
            </p:nvSpPr>
            <p:spPr>
              <a:xfrm rot="5400000">
                <a:off x="2645692" y="3246497"/>
                <a:ext cx="55512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100" dirty="0">
                    <a:latin typeface="Avenir Next" panose="020B0503020202020204" pitchFamily="34" charset="0"/>
                  </a:rPr>
                  <a:t>…</a:t>
                </a:r>
                <a:endParaRPr lang="en-US" sz="1100" dirty="0">
                  <a:latin typeface="Avenir Next" panose="020B0503020202020204" pitchFamily="34" charset="0"/>
                </a:endParaRPr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367069E-F671-128B-7291-B6CE0BA1FB9B}"/>
                </a:ext>
              </a:extLst>
            </p:cNvPr>
            <p:cNvSpPr/>
            <p:nvPr/>
          </p:nvSpPr>
          <p:spPr>
            <a:xfrm>
              <a:off x="5494615" y="1782390"/>
              <a:ext cx="628650" cy="400050"/>
            </a:xfrm>
            <a:custGeom>
              <a:avLst/>
              <a:gdLst>
                <a:gd name="connsiteX0" fmla="*/ 0 w 628650"/>
                <a:gd name="connsiteY0" fmla="*/ 0 h 400050"/>
                <a:gd name="connsiteX1" fmla="*/ 285750 w 628650"/>
                <a:gd name="connsiteY1" fmla="*/ 400050 h 400050"/>
                <a:gd name="connsiteX2" fmla="*/ 628650 w 628650"/>
                <a:gd name="connsiteY2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8650" h="400050">
                  <a:moveTo>
                    <a:pt x="0" y="0"/>
                  </a:moveTo>
                  <a:cubicBezTo>
                    <a:pt x="90487" y="200025"/>
                    <a:pt x="180975" y="400050"/>
                    <a:pt x="285750" y="400050"/>
                  </a:cubicBezTo>
                  <a:cubicBezTo>
                    <a:pt x="390525" y="400050"/>
                    <a:pt x="550545" y="45720"/>
                    <a:pt x="628650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9A2AEC2-FF41-F07C-4284-C237959DF27E}"/>
                </a:ext>
              </a:extLst>
            </p:cNvPr>
            <p:cNvSpPr/>
            <p:nvPr/>
          </p:nvSpPr>
          <p:spPr>
            <a:xfrm flipV="1">
              <a:off x="5494615" y="2591047"/>
              <a:ext cx="628650" cy="400050"/>
            </a:xfrm>
            <a:custGeom>
              <a:avLst/>
              <a:gdLst>
                <a:gd name="connsiteX0" fmla="*/ 0 w 628650"/>
                <a:gd name="connsiteY0" fmla="*/ 0 h 400050"/>
                <a:gd name="connsiteX1" fmla="*/ 285750 w 628650"/>
                <a:gd name="connsiteY1" fmla="*/ 400050 h 400050"/>
                <a:gd name="connsiteX2" fmla="*/ 628650 w 628650"/>
                <a:gd name="connsiteY2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8650" h="400050">
                  <a:moveTo>
                    <a:pt x="0" y="0"/>
                  </a:moveTo>
                  <a:cubicBezTo>
                    <a:pt x="90487" y="200025"/>
                    <a:pt x="180975" y="400050"/>
                    <a:pt x="285750" y="400050"/>
                  </a:cubicBezTo>
                  <a:cubicBezTo>
                    <a:pt x="390525" y="400050"/>
                    <a:pt x="550545" y="45720"/>
                    <a:pt x="628650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Picture 21" descr="A mug and a wooden stand&#10;&#10;Description automatically generated">
              <a:extLst>
                <a:ext uri="{FF2B5EF4-FFF2-40B4-BE49-F238E27FC236}">
                  <a16:creationId xmlns:a16="http://schemas.microsoft.com/office/drawing/2014/main" id="{F5FE2605-2A78-7F8D-B718-BAD278432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0000" b="90000" l="10000" r="90000">
                          <a14:foregroundMark x1="30804" y1="70370" x2="28795" y2="80370"/>
                          <a14:backgroundMark x1="28683" y1="41667" x2="31138" y2="45370"/>
                          <a14:backgroundMark x1="30915" y1="42037" x2="28237" y2="47963"/>
                          <a14:backgroundMark x1="30915" y1="47963" x2="29576" y2="48333"/>
                          <a14:backgroundMark x1="31808" y1="47963" x2="27344" y2="54630"/>
                          <a14:backgroundMark x1="28237" y1="46481" x2="27121" y2="53519"/>
                          <a14:backgroundMark x1="27790" y1="46111" x2="28683" y2="54259"/>
                          <a14:backgroundMark x1="32701" y1="46481" x2="35379" y2="56111"/>
                          <a14:backgroundMark x1="36496" y1="49444" x2="38281" y2="65741"/>
                          <a14:backgroundMark x1="35826" y1="63148" x2="37612" y2="69815"/>
                          <a14:backgroundMark x1="32254" y1="60556" x2="30022" y2="61296"/>
                          <a14:backgroundMark x1="38728" y1="50185" x2="35379" y2="49074"/>
                          <a14:backgroundMark x1="38058" y1="59815" x2="37612" y2="68333"/>
                          <a14:backgroundMark x1="39397" y1="78333" x2="38058" y2="69815"/>
                          <a14:backgroundMark x1="35379" y1="64630" x2="37612" y2="70926"/>
                          <a14:backgroundMark x1="36049" y1="69444" x2="37165" y2="73889"/>
                          <a14:backgroundMark x1="36719" y1="71667" x2="36719" y2="71667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066055" y="2579276"/>
              <a:ext cx="2451751" cy="147761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50800" dir="2700000" algn="ctr" rotWithShape="0">
                <a:srgbClr val="000000">
                  <a:alpha val="20000"/>
                </a:srgbClr>
              </a:outerShdw>
            </a:effectLst>
          </p:spPr>
        </p:pic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FAFF713-47C7-9963-4FEF-F6CC4DA9B3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8807" y="3282089"/>
              <a:ext cx="137160" cy="137160"/>
            </a:xfrm>
            <a:prstGeom prst="ellipse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FD4FFD9-DACA-D92A-69D8-F9495391E8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86791" y="3016227"/>
              <a:ext cx="137160" cy="13716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C41E8C9-66FD-EFEA-E018-060742473D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04175" y="3356418"/>
              <a:ext cx="137160" cy="13716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1" name="Picture 6" descr="Types of Distributions in Six Sigma">
              <a:extLst>
                <a:ext uri="{FF2B5EF4-FFF2-40B4-BE49-F238E27FC236}">
                  <a16:creationId xmlns:a16="http://schemas.microsoft.com/office/drawing/2014/main" id="{0C9AC9BE-D53E-EB26-1841-37E8331BE1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9091" b="89952" l="8269" r="89406">
                          <a14:foregroundMark x1="50388" y1="20096" x2="52713" y2="9091"/>
                          <a14:foregroundMark x1="8269" y1="88995" x2="8269" y2="88995"/>
                          <a14:foregroundMark x1="32041" y1="89952" x2="32041" y2="89952"/>
                          <a14:backgroundMark x1="9819" y1="88995" x2="9819" y2="88995"/>
                          <a14:backgroundMark x1="8010" y1="88517" x2="8010" y2="8851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7416" y="1926772"/>
              <a:ext cx="815611" cy="440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DD67748-71A6-A795-4043-53BC9D6E1532}"/>
                </a:ext>
              </a:extLst>
            </p:cNvPr>
            <p:cNvSpPr txBox="1"/>
            <p:nvPr/>
          </p:nvSpPr>
          <p:spPr>
            <a:xfrm>
              <a:off x="4378233" y="2295710"/>
              <a:ext cx="27484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Avenir Next" panose="020B0503020202020204" pitchFamily="34" charset="0"/>
                </a:rPr>
                <a:t>Add</a:t>
              </a:r>
              <a:r>
                <a:rPr lang="zh-TW" altLang="en-US" sz="1400" dirty="0">
                  <a:latin typeface="Avenir Next" panose="020B0503020202020204" pitchFamily="34" charset="0"/>
                </a:rPr>
                <a:t> </a:t>
              </a:r>
              <a:r>
                <a:rPr lang="en-US" altLang="zh-TW" sz="1400" dirty="0">
                  <a:latin typeface="Avenir Next" panose="020B0503020202020204" pitchFamily="34" charset="0"/>
                </a:rPr>
                <a:t>Gaussian</a:t>
              </a:r>
              <a:r>
                <a:rPr lang="zh-TW" altLang="en-US" sz="1400" dirty="0">
                  <a:latin typeface="Avenir Next" panose="020B0503020202020204" pitchFamily="34" charset="0"/>
                </a:rPr>
                <a:t> </a:t>
              </a:r>
              <a:r>
                <a:rPr lang="en-US" altLang="zh-TW" sz="1400" dirty="0">
                  <a:latin typeface="Avenir Next" panose="020B0503020202020204" pitchFamily="34" charset="0"/>
                </a:rPr>
                <a:t>noise to </a:t>
              </a:r>
              <a:r>
                <a:rPr lang="en-US" altLang="zh-TW" sz="1400" b="1" dirty="0">
                  <a:latin typeface="Avenir Next" panose="020B0503020202020204" pitchFamily="34" charset="0"/>
                </a:rPr>
                <a:t>actions</a:t>
              </a:r>
              <a:endParaRPr lang="en-US" sz="1400" b="1" dirty="0">
                <a:latin typeface="Avenir Next" panose="020B0503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3959B87-8D8C-2327-2D78-44227158BD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37543" y="3338790"/>
              <a:ext cx="137160" cy="1371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5413E3F-06FE-99C7-2425-5FEB55E739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21248" y="2915058"/>
              <a:ext cx="137160" cy="13716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9DA3A2E-EEF8-4BC6-3FC7-8FD9CFAB1F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61837" y="3308722"/>
              <a:ext cx="137160" cy="13716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9C4E068-3D9F-128C-FD82-43CABA748625}"/>
                </a:ext>
              </a:extLst>
            </p:cNvPr>
            <p:cNvGrpSpPr/>
            <p:nvPr/>
          </p:nvGrpSpPr>
          <p:grpSpPr>
            <a:xfrm>
              <a:off x="6066055" y="662609"/>
              <a:ext cx="2451751" cy="1477618"/>
              <a:chOff x="5981253" y="662609"/>
              <a:chExt cx="2451751" cy="1477618"/>
            </a:xfrm>
            <a:effectLst>
              <a:outerShdw blurRad="50800" dist="50800" dir="5400000" algn="ctr" rotWithShape="0">
                <a:srgbClr val="000000">
                  <a:alpha val="20000"/>
                </a:srgbClr>
              </a:outerShdw>
            </a:effectLst>
          </p:grpSpPr>
          <p:pic>
            <p:nvPicPr>
              <p:cNvPr id="1052" name="Picture 1051" descr="A mug and a wooden stand&#10;&#10;Description automatically generated">
                <a:extLst>
                  <a:ext uri="{FF2B5EF4-FFF2-40B4-BE49-F238E27FC236}">
                    <a16:creationId xmlns:a16="http://schemas.microsoft.com/office/drawing/2014/main" id="{C639FD3C-3D16-650C-952C-81BA755B9A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000" b="90000" l="10000" r="90000">
                            <a14:foregroundMark x1="28683" y1="68889" x2="26339" y2="84259"/>
                            <a14:backgroundMark x1="28348" y1="46296" x2="31027" y2="41481"/>
                            <a14:backgroundMark x1="29129" y1="45370" x2="28683" y2="50185"/>
                            <a14:backgroundMark x1="29241" y1="45000" x2="28795" y2="51852"/>
                            <a14:backgroundMark x1="27790" y1="52407" x2="27790" y2="52407"/>
                            <a14:backgroundMark x1="27567" y1="51852" x2="28348" y2="52963"/>
                            <a14:backgroundMark x1="29799" y1="44815" x2="35603" y2="50926"/>
                            <a14:backgroundMark x1="34152" y1="43704" x2="34040" y2="46296"/>
                            <a14:backgroundMark x1="27121" y1="43333" x2="30469" y2="42222"/>
                            <a14:backgroundMark x1="30469" y1="42037" x2="30469" y2="42037"/>
                            <a14:backgroundMark x1="24554" y1="46667" x2="24554" y2="46667"/>
                            <a14:backgroundMark x1="24554" y1="46667" x2="24554" y2="46667"/>
                            <a14:backgroundMark x1="24554" y1="46667" x2="24554" y2="46667"/>
                            <a14:backgroundMark x1="24554" y1="46667" x2="24554" y2="46667"/>
                            <a14:backgroundMark x1="30357" y1="44074" x2="30357" y2="44074"/>
                            <a14:backgroundMark x1="29911" y1="43333" x2="29911" y2="43333"/>
                            <a14:backgroundMark x1="29911" y1="43333" x2="29911" y2="43333"/>
                            <a14:backgroundMark x1="30246" y1="42778" x2="30246" y2="42778"/>
                            <a14:backgroundMark x1="30357" y1="42963" x2="30357" y2="42963"/>
                            <a14:backgroundMark x1="30357" y1="43333" x2="30357" y2="43333"/>
                            <a14:backgroundMark x1="30357" y1="43333" x2="30357" y2="43333"/>
                            <a14:backgroundMark x1="30022" y1="44259" x2="30022" y2="44259"/>
                            <a14:backgroundMark x1="30022" y1="44074" x2="30022" y2="44074"/>
                            <a14:backgroundMark x1="30022" y1="43704" x2="30022" y2="43704"/>
                            <a14:backgroundMark x1="30022" y1="42778" x2="30469" y2="41667"/>
                            <a14:backgroundMark x1="33482" y1="44630" x2="33705" y2="46111"/>
                            <a14:backgroundMark x1="32813" y1="43704" x2="32813" y2="43704"/>
                            <a14:backgroundMark x1="32813" y1="43704" x2="32813" y2="43704"/>
                            <a14:backgroundMark x1="30804" y1="42222" x2="30804" y2="42222"/>
                            <a14:backgroundMark x1="30804" y1="42037" x2="30804" y2="42037"/>
                            <a14:backgroundMark x1="31027" y1="42037" x2="31027" y2="42037"/>
                            <a14:backgroundMark x1="31027" y1="42037" x2="31027" y2="42037"/>
                            <a14:backgroundMark x1="30804" y1="42778" x2="30804" y2="42778"/>
                            <a14:backgroundMark x1="30804" y1="42778" x2="30804" y2="42778"/>
                            <a14:backgroundMark x1="30357" y1="43333" x2="30357" y2="43333"/>
                            <a14:backgroundMark x1="29911" y1="43519" x2="29911" y2="43519"/>
                            <a14:backgroundMark x1="29911" y1="43519" x2="30022" y2="44815"/>
                            <a14:backgroundMark x1="30246" y1="43704" x2="30246" y2="43704"/>
                            <a14:backgroundMark x1="30246" y1="43704" x2="30246" y2="43704"/>
                            <a14:backgroundMark x1="30357" y1="43333" x2="30357" y2="43333"/>
                            <a14:backgroundMark x1="31250" y1="40741" x2="31250" y2="40741"/>
                            <a14:backgroundMark x1="31250" y1="41296" x2="31250" y2="41296"/>
                            <a14:backgroundMark x1="31250" y1="41296" x2="31250" y2="41296"/>
                            <a14:backgroundMark x1="31473" y1="41296" x2="31473" y2="41296"/>
                            <a14:backgroundMark x1="31473" y1="41481" x2="31473" y2="41481"/>
                            <a14:backgroundMark x1="31585" y1="41481" x2="31585" y2="41481"/>
                            <a14:backgroundMark x1="31585" y1="41481" x2="31585" y2="41481"/>
                            <a14:backgroundMark x1="31473" y1="41481" x2="31473" y2="41481"/>
                            <a14:backgroundMark x1="31138" y1="41667" x2="31138" y2="41667"/>
                            <a14:backgroundMark x1="30804" y1="42593" x2="30804" y2="42593"/>
                            <a14:backgroundMark x1="30804" y1="42593" x2="30804" y2="42593"/>
                            <a14:backgroundMark x1="30804" y1="42593" x2="30804" y2="42593"/>
                            <a14:backgroundMark x1="30804" y1="42593" x2="30804" y2="42593"/>
                            <a14:backgroundMark x1="30804" y1="43333" x2="30804" y2="43333"/>
                            <a14:backgroundMark x1="30804" y1="43333" x2="30804" y2="43333"/>
                            <a14:backgroundMark x1="30357" y1="43333" x2="30357" y2="43333"/>
                            <a14:backgroundMark x1="30357" y1="43333" x2="30357" y2="43333"/>
                            <a14:backgroundMark x1="30357" y1="42963" x2="30357" y2="42963"/>
                            <a14:backgroundMark x1="30246" y1="42963" x2="30246" y2="42963"/>
                            <a14:backgroundMark x1="30246" y1="42963" x2="30246" y2="42963"/>
                            <a14:backgroundMark x1="30022" y1="43333" x2="30022" y2="43333"/>
                            <a14:backgroundMark x1="30022" y1="43519" x2="30022" y2="43519"/>
                            <a14:backgroundMark x1="30022" y1="43519" x2="30022" y2="43519"/>
                            <a14:backgroundMark x1="34933" y1="52963" x2="34933" y2="52963"/>
                            <a14:backgroundMark x1="35156" y1="52778" x2="35156" y2="52778"/>
                            <a14:backgroundMark x1="35603" y1="51852" x2="35603" y2="51852"/>
                            <a14:backgroundMark x1="35603" y1="51852" x2="35603" y2="51852"/>
                            <a14:backgroundMark x1="35603" y1="51852" x2="35603" y2="51852"/>
                            <a14:backgroundMark x1="35268" y1="52222" x2="35268" y2="52222"/>
                            <a14:backgroundMark x1="35156" y1="52778" x2="35156" y2="52778"/>
                            <a14:backgroundMark x1="35156" y1="51481" x2="35156" y2="51481"/>
                            <a14:backgroundMark x1="34375" y1="50185" x2="35268" y2="51111"/>
                            <a14:backgroundMark x1="33929" y1="51111" x2="35268" y2="51667"/>
                            <a14:backgroundMark x1="35603" y1="52407" x2="35603" y2="52407"/>
                            <a14:backgroundMark x1="35938" y1="52222" x2="35938" y2="52222"/>
                            <a14:backgroundMark x1="35938" y1="52222" x2="35938" y2="52222"/>
                            <a14:backgroundMark x1="35603" y1="51667" x2="35603" y2="51667"/>
                            <a14:backgroundMark x1="35603" y1="51667" x2="35603" y2="51667"/>
                            <a14:backgroundMark x1="35603" y1="51667" x2="35603" y2="51667"/>
                            <a14:backgroundMark x1="35603" y1="51481" x2="35603" y2="51481"/>
                            <a14:backgroundMark x1="35603" y1="51481" x2="35603" y2="51481"/>
                            <a14:backgroundMark x1="35603" y1="51111" x2="35603" y2="51111"/>
                            <a14:backgroundMark x1="35379" y1="51111" x2="36049" y2="53519"/>
                            <a14:backgroundMark x1="33147" y1="44815" x2="33147" y2="44815"/>
                            <a14:backgroundMark x1="33147" y1="44815" x2="33147" y2="44815"/>
                            <a14:backgroundMark x1="33147" y1="43519" x2="33147" y2="43519"/>
                            <a14:backgroundMark x1="32924" y1="44074" x2="32924" y2="44074"/>
                            <a14:backgroundMark x1="32924" y1="44074" x2="32924" y2="44074"/>
                            <a14:backgroundMark x1="33147" y1="43519" x2="33147" y2="43519"/>
                            <a14:backgroundMark x1="33147" y1="43519" x2="33147" y2="43519"/>
                            <a14:backgroundMark x1="32924" y1="43704" x2="32924" y2="43704"/>
                            <a14:backgroundMark x1="32924" y1="44074" x2="32924" y2="44074"/>
                            <a14:backgroundMark x1="32924" y1="43704" x2="32924" y2="43704"/>
                            <a14:backgroundMark x1="31138" y1="42778" x2="31138" y2="42778"/>
                            <a14:backgroundMark x1="30692" y1="42778" x2="30692" y2="42778"/>
                            <a14:backgroundMark x1="30692" y1="42778" x2="30692" y2="42778"/>
                            <a14:backgroundMark x1="30692" y1="42778" x2="30692" y2="42778"/>
                            <a14:backgroundMark x1="30692" y1="42778" x2="30692" y2="42778"/>
                            <a14:backgroundMark x1="30246" y1="43704" x2="30246" y2="43704"/>
                            <a14:backgroundMark x1="30022" y1="43519" x2="30022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29911" y1="43519" x2="29911" y2="43519"/>
                            <a14:backgroundMark x1="30022" y1="41296" x2="30469" y2="44259"/>
                            <a14:backgroundMark x1="29911" y1="42778" x2="30469" y2="45370"/>
                            <a14:backgroundMark x1="34487" y1="42222" x2="34040" y2="44074"/>
                            <a14:backgroundMark x1="34487" y1="42593" x2="35714" y2="44074"/>
                            <a14:backgroundMark x1="31585" y1="40741" x2="31585" y2="40741"/>
                            <a14:backgroundMark x1="31585" y1="40741" x2="31585" y2="40741"/>
                            <a14:backgroundMark x1="19531" y1="40000" x2="24107" y2="46852"/>
                            <a14:backgroundMark x1="24330" y1="46481" x2="24330" y2="46481"/>
                            <a14:backgroundMark x1="24442" y1="47407" x2="24442" y2="47407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665" y1="46852" x2="24665" y2="46852"/>
                            <a14:backgroundMark x1="24442" y1="46667" x2="24442" y2="46667"/>
                            <a14:backgroundMark x1="24442" y1="46111" x2="24442" y2="46111"/>
                            <a14:backgroundMark x1="24442" y1="46481" x2="24442" y2="46481"/>
                            <a14:backgroundMark x1="24665" y1="47407" x2="24665" y2="47407"/>
                            <a14:backgroundMark x1="24665" y1="47407" x2="24665" y2="47407"/>
                            <a14:backgroundMark x1="24442" y1="46852" x2="24442" y2="46852"/>
                            <a14:backgroundMark x1="24330" y1="46481" x2="24330" y2="46481"/>
                            <a14:backgroundMark x1="24330" y1="46852" x2="24330" y2="46852"/>
                            <a14:backgroundMark x1="24442" y1="46852" x2="24442" y2="46852"/>
                            <a14:backgroundMark x1="24442" y1="45926" x2="24442" y2="45926"/>
                            <a14:backgroundMark x1="24665" y1="46852" x2="24665" y2="46852"/>
                            <a14:backgroundMark x1="24665" y1="46852" x2="24665" y2="46852"/>
                            <a14:backgroundMark x1="24777" y1="49630" x2="24777" y2="49630"/>
                            <a14:backgroundMark x1="24666" y1="49630" x2="25112" y2="50000"/>
                            <a14:backgroundMark x1="23326" y1="48519" x2="24666" y2="49630"/>
                            <a14:backgroundMark x1="25095" y1="49630" x2="25335" y2="50000"/>
                            <a14:backgroundMark x1="23772" y1="47593" x2="25095" y2="49630"/>
                            <a14:backgroundMark x1="25123" y1="49630" x2="25670" y2="50185"/>
                            <a14:backgroundMark x1="23661" y1="48148" x2="25123" y2="49630"/>
                            <a14:backgroundMark x1="23549" y1="47778" x2="38058" y2="58519"/>
                            <a14:backgroundMark x1="38504" y1="46296" x2="37612" y2="58519"/>
                            <a14:backgroundMark x1="33594" y1="35556" x2="32031" y2="38889"/>
                            <a14:backgroundMark x1="26004" y1="55926" x2="25558" y2="58889"/>
                            <a14:backgroundMark x1="36719" y1="44074" x2="32254" y2="38148"/>
                            <a14:backgroundMark x1="30022" y1="36667" x2="33817" y2="44074"/>
                            <a14:backgroundMark x1="33371" y1="40000" x2="37835" y2="50000"/>
                            <a14:backgroundMark x1="36719" y1="43333" x2="38504" y2="49259"/>
                            <a14:backgroundMark x1="23103" y1="52222" x2="26004" y2="58889"/>
                            <a14:backgroundMark x1="25335" y1="54074" x2="27790" y2="59630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981253" y="662609"/>
                <a:ext cx="2451751" cy="147761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50800" dir="5400000" algn="ctr" rotWithShape="0">
                  <a:srgbClr val="000000">
                    <a:alpha val="35818"/>
                  </a:srgbClr>
                </a:outerShdw>
              </a:effectLst>
            </p:spPr>
          </p:pic>
          <p:sp>
            <p:nvSpPr>
              <p:cNvPr id="1053" name="Oval 1052">
                <a:extLst>
                  <a:ext uri="{FF2B5EF4-FFF2-40B4-BE49-F238E27FC236}">
                    <a16:creationId xmlns:a16="http://schemas.microsoft.com/office/drawing/2014/main" id="{C9ACFDCB-991C-90EE-EDB1-340332A78DB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85424" y="1357102"/>
                <a:ext cx="137160" cy="137160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5" name="Oval 1054">
                <a:extLst>
                  <a:ext uri="{FF2B5EF4-FFF2-40B4-BE49-F238E27FC236}">
                    <a16:creationId xmlns:a16="http://schemas.microsoft.com/office/drawing/2014/main" id="{7FF34507-0DF5-50C9-D824-89528CE14A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34033" y="1009086"/>
                <a:ext cx="137160" cy="137160"/>
              </a:xfrm>
              <a:prstGeom prst="ellipse">
                <a:avLst/>
              </a:prstGeom>
              <a:solidFill>
                <a:schemeClr val="accent2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6" name="Oval 1055">
                <a:extLst>
                  <a:ext uri="{FF2B5EF4-FFF2-40B4-BE49-F238E27FC236}">
                    <a16:creationId xmlns:a16="http://schemas.microsoft.com/office/drawing/2014/main" id="{82A02E87-CFC1-B006-5751-1C9BBE2E2A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66462" y="1357102"/>
                <a:ext cx="137160" cy="13716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58" name="Oval 1057">
                <a:extLst>
                  <a:ext uri="{FF2B5EF4-FFF2-40B4-BE49-F238E27FC236}">
                    <a16:creationId xmlns:a16="http://schemas.microsoft.com/office/drawing/2014/main" id="{DA028C71-560F-8247-9E33-E39DEEFEA1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499286" y="1288522"/>
                <a:ext cx="137160" cy="13716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3B3CCD73-A44A-F837-0527-7D86E19EF1F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713055" y="880766"/>
                <a:ext cx="137160" cy="13716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0" name="Oval 1059">
                <a:extLst>
                  <a:ext uri="{FF2B5EF4-FFF2-40B4-BE49-F238E27FC236}">
                    <a16:creationId xmlns:a16="http://schemas.microsoft.com/office/drawing/2014/main" id="{E7B23FEE-0882-6B6F-0725-31B0702E021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73094" y="1432502"/>
                <a:ext cx="137160" cy="13716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77E9FA-6D1D-D372-584E-52661D3FF2DD}"/>
                </a:ext>
              </a:extLst>
            </p:cNvPr>
            <p:cNvSpPr txBox="1"/>
            <p:nvPr/>
          </p:nvSpPr>
          <p:spPr>
            <a:xfrm>
              <a:off x="5995266" y="4078788"/>
              <a:ext cx="25933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Avenir Next" panose="020B0503020202020204" pitchFamily="34" charset="0"/>
                </a:rPr>
                <a:t>Noised actions</a:t>
              </a:r>
              <a:endParaRPr lang="en-US" dirty="0">
                <a:latin typeface="Avenir Next" panose="020B0503020202020204" pitchFamily="34" charset="0"/>
              </a:endParaRPr>
            </a:p>
          </p:txBody>
        </p:sp>
        <p:pic>
          <p:nvPicPr>
            <p:cNvPr id="48" name="Picture 4" descr="Neural - Free computer icons">
              <a:extLst>
                <a:ext uri="{FF2B5EF4-FFF2-40B4-BE49-F238E27FC236}">
                  <a16:creationId xmlns:a16="http://schemas.microsoft.com/office/drawing/2014/main" id="{164A1EDC-EC77-5F20-C0B3-34E7976352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20054" y="2961508"/>
              <a:ext cx="682227" cy="682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3112257-3D15-F872-FCE6-1F58185A593D}"/>
                </a:ext>
              </a:extLst>
            </p:cNvPr>
            <p:cNvSpPr txBox="1"/>
            <p:nvPr/>
          </p:nvSpPr>
          <p:spPr>
            <a:xfrm>
              <a:off x="9450418" y="1634384"/>
              <a:ext cx="105148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Avenir Next" panose="020B0503020202020204" pitchFamily="34" charset="0"/>
                </a:rPr>
                <a:t>Diffusion</a:t>
              </a:r>
            </a:p>
            <a:p>
              <a:pPr algn="ctr"/>
              <a:r>
                <a:rPr lang="en-US" altLang="zh-TW" sz="1600" dirty="0">
                  <a:latin typeface="Avenir Next" panose="020B0503020202020204" pitchFamily="34" charset="0"/>
                </a:rPr>
                <a:t>Policy</a:t>
              </a:r>
              <a:endParaRPr lang="en-US" sz="1600" dirty="0">
                <a:latin typeface="Avenir Next" panose="020B0503020202020204" pitchFamily="34" charset="0"/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490853E-4FAD-ED59-A955-9852309BA0E6}"/>
                </a:ext>
              </a:extLst>
            </p:cNvPr>
            <p:cNvCxnSpPr>
              <a:cxnSpLocks/>
            </p:cNvCxnSpPr>
            <p:nvPr/>
          </p:nvCxnSpPr>
          <p:spPr>
            <a:xfrm>
              <a:off x="8448754" y="1313172"/>
              <a:ext cx="114418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4" name="Picture 4" descr="Neural - Free computer icons">
              <a:extLst>
                <a:ext uri="{FF2B5EF4-FFF2-40B4-BE49-F238E27FC236}">
                  <a16:creationId xmlns:a16="http://schemas.microsoft.com/office/drawing/2014/main" id="{EB8B3613-6EBA-6933-F715-F6B2874D5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duotone>
                <a:prstClr val="black"/>
                <a:schemeClr val="accent5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2973" y="983010"/>
              <a:ext cx="682227" cy="6822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6E88F65-3689-0099-1C5A-8AD9FE27CFDD}"/>
                </a:ext>
              </a:extLst>
            </p:cNvPr>
            <p:cNvCxnSpPr>
              <a:cxnSpLocks/>
            </p:cNvCxnSpPr>
            <p:nvPr/>
          </p:nvCxnSpPr>
          <p:spPr>
            <a:xfrm>
              <a:off x="10369290" y="1319097"/>
              <a:ext cx="67234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55748E8-EB1F-8C5D-F35F-695D72E682F7}"/>
                </a:ext>
              </a:extLst>
            </p:cNvPr>
            <p:cNvSpPr txBox="1"/>
            <p:nvPr/>
          </p:nvSpPr>
          <p:spPr>
            <a:xfrm>
              <a:off x="9027306" y="2710970"/>
              <a:ext cx="24517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Avenir Next" panose="020B0503020202020204" pitchFamily="34" charset="0"/>
                </a:rPr>
                <a:t>Human-robot</a:t>
              </a:r>
              <a:r>
                <a:rPr lang="zh-TW" altLang="en-US" sz="1600" dirty="0">
                  <a:latin typeface="Avenir Next" panose="020B0503020202020204" pitchFamily="34" charset="0"/>
                </a:rPr>
                <a:t> </a:t>
              </a:r>
              <a:r>
                <a:rPr lang="en-US" altLang="zh-TW" sz="1600" dirty="0">
                  <a:latin typeface="Avenir Next" panose="020B0503020202020204" pitchFamily="34" charset="0"/>
                </a:rPr>
                <a:t>classifier</a:t>
              </a:r>
              <a:endParaRPr lang="en-US" sz="1600" dirty="0">
                <a:latin typeface="Avenir Next" panose="020B0503020202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8AB4957-94AB-2655-2B2F-97A8F91DA984}"/>
                </a:ext>
              </a:extLst>
            </p:cNvPr>
            <p:cNvSpPr txBox="1"/>
            <p:nvPr/>
          </p:nvSpPr>
          <p:spPr>
            <a:xfrm>
              <a:off x="8689819" y="4078788"/>
              <a:ext cx="40771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>
                  <a:latin typeface="Avenir Next" panose="020B0503020202020204" pitchFamily="34" charset="0"/>
                </a:rPr>
                <a:t>Cross-embodiment</a:t>
              </a:r>
              <a:r>
                <a:rPr lang="zh-TW" altLang="en-US" dirty="0">
                  <a:latin typeface="Avenir Next" panose="020B0503020202020204" pitchFamily="34" charset="0"/>
                </a:rPr>
                <a:t> </a:t>
              </a:r>
              <a:r>
                <a:rPr lang="en-US" altLang="zh-TW" dirty="0">
                  <a:latin typeface="Avenir Next" panose="020B0503020202020204" pitchFamily="34" charset="0"/>
                </a:rPr>
                <a:t>diffusion</a:t>
              </a:r>
              <a:r>
                <a:rPr lang="zh-TW" altLang="en-US" dirty="0">
                  <a:latin typeface="Avenir Next" panose="020B0503020202020204" pitchFamily="34" charset="0"/>
                </a:rPr>
                <a:t> </a:t>
              </a:r>
              <a:r>
                <a:rPr lang="en-US" altLang="zh-TW" dirty="0">
                  <a:latin typeface="Avenir Next" panose="020B0503020202020204" pitchFamily="34" charset="0"/>
                </a:rPr>
                <a:t>learning</a:t>
              </a:r>
              <a:endParaRPr lang="en-US" dirty="0">
                <a:latin typeface="Avenir Next" panose="020B0503020202020204" pitchFamily="34" charset="0"/>
              </a:endParaRP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B42BB6-B04D-E461-0AB9-E9B20E23A530}"/>
                </a:ext>
              </a:extLst>
            </p:cNvPr>
            <p:cNvCxnSpPr>
              <a:cxnSpLocks/>
            </p:cNvCxnSpPr>
            <p:nvPr/>
          </p:nvCxnSpPr>
          <p:spPr>
            <a:xfrm>
              <a:off x="8448754" y="3302622"/>
              <a:ext cx="330125" cy="1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CBD4F2F-A6F1-397C-A67C-06A48FABFCC7}"/>
                </a:ext>
              </a:extLst>
            </p:cNvPr>
            <p:cNvSpPr txBox="1"/>
            <p:nvPr/>
          </p:nvSpPr>
          <p:spPr>
            <a:xfrm>
              <a:off x="9463878" y="3438070"/>
              <a:ext cx="1020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Next" panose="020B0503020202020204" pitchFamily="34" charset="0"/>
                </a:rPr>
                <a:t>Human</a:t>
              </a:r>
            </a:p>
          </p:txBody>
        </p:sp>
        <p:cxnSp>
          <p:nvCxnSpPr>
            <p:cNvPr id="1024" name="Straight Arrow Connector 1023">
              <a:extLst>
                <a:ext uri="{FF2B5EF4-FFF2-40B4-BE49-F238E27FC236}">
                  <a16:creationId xmlns:a16="http://schemas.microsoft.com/office/drawing/2014/main" id="{3C869774-D5C8-7A2F-280B-9B3466ED5B7E}"/>
                </a:ext>
              </a:extLst>
            </p:cNvPr>
            <p:cNvCxnSpPr>
              <a:cxnSpLocks/>
            </p:cNvCxnSpPr>
            <p:nvPr/>
          </p:nvCxnSpPr>
          <p:spPr>
            <a:xfrm>
              <a:off x="9414549" y="3302621"/>
              <a:ext cx="330125" cy="1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88F9CFC8-4AD9-1C1D-BA3E-CDB3CC4ED57B}"/>
                </a:ext>
              </a:extLst>
            </p:cNvPr>
            <p:cNvSpPr txBox="1"/>
            <p:nvPr/>
          </p:nvSpPr>
          <p:spPr>
            <a:xfrm>
              <a:off x="9694992" y="3089059"/>
              <a:ext cx="55819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Helvetica" pitchFamily="2" charset="0"/>
                </a:rPr>
                <a:t>🙋‍♀️</a:t>
              </a:r>
            </a:p>
          </p:txBody>
        </p:sp>
        <p:cxnSp>
          <p:nvCxnSpPr>
            <p:cNvPr id="1026" name="Straight Arrow Connector 1025">
              <a:extLst>
                <a:ext uri="{FF2B5EF4-FFF2-40B4-BE49-F238E27FC236}">
                  <a16:creationId xmlns:a16="http://schemas.microsoft.com/office/drawing/2014/main" id="{44884B7D-A04B-4140-7BF2-52E630CD6C36}"/>
                </a:ext>
              </a:extLst>
            </p:cNvPr>
            <p:cNvCxnSpPr>
              <a:cxnSpLocks/>
            </p:cNvCxnSpPr>
            <p:nvPr/>
          </p:nvCxnSpPr>
          <p:spPr>
            <a:xfrm>
              <a:off x="10204228" y="3302500"/>
              <a:ext cx="330125" cy="154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63A5F85A-D2A7-6AC2-F236-8026F56B11A6}"/>
                </a:ext>
              </a:extLst>
            </p:cNvPr>
            <p:cNvSpPr txBox="1"/>
            <p:nvPr/>
          </p:nvSpPr>
          <p:spPr>
            <a:xfrm>
              <a:off x="10508164" y="3102710"/>
              <a:ext cx="5085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Helvetica" pitchFamily="2" charset="0"/>
                </a:rPr>
                <a:t>🗑️</a:t>
              </a:r>
            </a:p>
          </p:txBody>
        </p:sp>
        <p:sp>
          <p:nvSpPr>
            <p:cNvPr id="1029" name="TextBox 1028">
              <a:extLst>
                <a:ext uri="{FF2B5EF4-FFF2-40B4-BE49-F238E27FC236}">
                  <a16:creationId xmlns:a16="http://schemas.microsoft.com/office/drawing/2014/main" id="{D3AFDEE4-EEF2-D929-4A14-41F847D6DD64}"/>
                </a:ext>
              </a:extLst>
            </p:cNvPr>
            <p:cNvSpPr txBox="1"/>
            <p:nvPr/>
          </p:nvSpPr>
          <p:spPr>
            <a:xfrm>
              <a:off x="10297426" y="3437248"/>
              <a:ext cx="10204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Next" panose="020B0503020202020204" pitchFamily="34" charset="0"/>
                </a:rPr>
                <a:t>Discard</a:t>
              </a:r>
            </a:p>
          </p:txBody>
        </p:sp>
        <p:cxnSp>
          <p:nvCxnSpPr>
            <p:cNvPr id="1030" name="Straight Arrow Connector 1029">
              <a:extLst>
                <a:ext uri="{FF2B5EF4-FFF2-40B4-BE49-F238E27FC236}">
                  <a16:creationId xmlns:a16="http://schemas.microsoft.com/office/drawing/2014/main" id="{3F452DAF-0D83-8CD2-BE5A-4A87B3165C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1167" y="2467575"/>
              <a:ext cx="0" cy="3821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36559A27-AECC-E65C-1FD1-FC903906F693}"/>
                </a:ext>
              </a:extLst>
            </p:cNvPr>
            <p:cNvSpPr txBox="1"/>
            <p:nvPr/>
          </p:nvSpPr>
          <p:spPr>
            <a:xfrm>
              <a:off x="8608243" y="2154381"/>
              <a:ext cx="9058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Avenir Next" panose="020B0503020202020204" pitchFamily="34" charset="0"/>
                </a:rPr>
                <a:t>Robot</a:t>
              </a: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BC7048BE-0D5A-F3C2-B883-9F91048F96C1}"/>
                </a:ext>
              </a:extLst>
            </p:cNvPr>
            <p:cNvSpPr txBox="1"/>
            <p:nvPr/>
          </p:nvSpPr>
          <p:spPr>
            <a:xfrm>
              <a:off x="8770309" y="1815005"/>
              <a:ext cx="5817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/>
                <a:t>🤖</a:t>
              </a:r>
            </a:p>
          </p:txBody>
        </p:sp>
        <p:pic>
          <p:nvPicPr>
            <p:cNvPr id="1035" name="Picture 1034" descr="A mug and a wooden stand&#10;&#10;Description automatically generated">
              <a:extLst>
                <a:ext uri="{FF2B5EF4-FFF2-40B4-BE49-F238E27FC236}">
                  <a16:creationId xmlns:a16="http://schemas.microsoft.com/office/drawing/2014/main" id="{437B8B6E-C894-1202-E1D1-85C2D5B91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28683" y1="68889" x2="26339" y2="84259"/>
                          <a14:backgroundMark x1="28348" y1="46296" x2="31027" y2="41481"/>
                          <a14:backgroundMark x1="29129" y1="45370" x2="28683" y2="50185"/>
                          <a14:backgroundMark x1="29241" y1="45000" x2="28795" y2="51852"/>
                          <a14:backgroundMark x1="27790" y1="52407" x2="27790" y2="52407"/>
                          <a14:backgroundMark x1="27567" y1="51852" x2="28348" y2="52963"/>
                          <a14:backgroundMark x1="29799" y1="44815" x2="35603" y2="50926"/>
                          <a14:backgroundMark x1="34152" y1="43704" x2="34040" y2="46296"/>
                          <a14:backgroundMark x1="27121" y1="43333" x2="30469" y2="42222"/>
                          <a14:backgroundMark x1="30469" y1="42037" x2="30469" y2="42037"/>
                          <a14:backgroundMark x1="24554" y1="46667" x2="24554" y2="46667"/>
                          <a14:backgroundMark x1="24554" y1="46667" x2="24554" y2="46667"/>
                          <a14:backgroundMark x1="24554" y1="46667" x2="24554" y2="46667"/>
                          <a14:backgroundMark x1="24554" y1="46667" x2="24554" y2="46667"/>
                          <a14:backgroundMark x1="30357" y1="44074" x2="30357" y2="44074"/>
                          <a14:backgroundMark x1="29911" y1="43333" x2="29911" y2="43333"/>
                          <a14:backgroundMark x1="29911" y1="43333" x2="29911" y2="43333"/>
                          <a14:backgroundMark x1="30246" y1="42778" x2="30246" y2="42778"/>
                          <a14:backgroundMark x1="30357" y1="42963" x2="30357" y2="42963"/>
                          <a14:backgroundMark x1="30357" y1="43333" x2="30357" y2="43333"/>
                          <a14:backgroundMark x1="30357" y1="43333" x2="30357" y2="43333"/>
                          <a14:backgroundMark x1="30022" y1="44259" x2="30022" y2="44259"/>
                          <a14:backgroundMark x1="30022" y1="44074" x2="30022" y2="44074"/>
                          <a14:backgroundMark x1="30022" y1="43704" x2="30022" y2="43704"/>
                          <a14:backgroundMark x1="30022" y1="42778" x2="30469" y2="41667"/>
                          <a14:backgroundMark x1="33482" y1="44630" x2="33705" y2="46111"/>
                          <a14:backgroundMark x1="32813" y1="43704" x2="32813" y2="43704"/>
                          <a14:backgroundMark x1="32813" y1="43704" x2="32813" y2="43704"/>
                          <a14:backgroundMark x1="30804" y1="42222" x2="30804" y2="42222"/>
                          <a14:backgroundMark x1="30804" y1="42037" x2="30804" y2="42037"/>
                          <a14:backgroundMark x1="31027" y1="42037" x2="31027" y2="42037"/>
                          <a14:backgroundMark x1="31027" y1="42037" x2="31027" y2="42037"/>
                          <a14:backgroundMark x1="30804" y1="42778" x2="30804" y2="42778"/>
                          <a14:backgroundMark x1="30804" y1="42778" x2="30804" y2="42778"/>
                          <a14:backgroundMark x1="30357" y1="43333" x2="30357" y2="43333"/>
                          <a14:backgroundMark x1="29911" y1="43519" x2="29911" y2="43519"/>
                          <a14:backgroundMark x1="29911" y1="43519" x2="30022" y2="44815"/>
                          <a14:backgroundMark x1="30246" y1="43704" x2="30246" y2="43704"/>
                          <a14:backgroundMark x1="30246" y1="43704" x2="30246" y2="43704"/>
                          <a14:backgroundMark x1="30357" y1="43333" x2="30357" y2="43333"/>
                          <a14:backgroundMark x1="31250" y1="40741" x2="31250" y2="40741"/>
                          <a14:backgroundMark x1="31250" y1="41296" x2="31250" y2="41296"/>
                          <a14:backgroundMark x1="31250" y1="41296" x2="31250" y2="41296"/>
                          <a14:backgroundMark x1="31473" y1="41296" x2="31473" y2="41296"/>
                          <a14:backgroundMark x1="31473" y1="41481" x2="31473" y2="41481"/>
                          <a14:backgroundMark x1="31585" y1="41481" x2="31585" y2="41481"/>
                          <a14:backgroundMark x1="31585" y1="41481" x2="31585" y2="41481"/>
                          <a14:backgroundMark x1="31473" y1="41481" x2="31473" y2="41481"/>
                          <a14:backgroundMark x1="31138" y1="41667" x2="31138" y2="41667"/>
                          <a14:backgroundMark x1="30804" y1="42593" x2="30804" y2="42593"/>
                          <a14:backgroundMark x1="30804" y1="42593" x2="30804" y2="42593"/>
                          <a14:backgroundMark x1="30804" y1="42593" x2="30804" y2="42593"/>
                          <a14:backgroundMark x1="30804" y1="42593" x2="30804" y2="42593"/>
                          <a14:backgroundMark x1="30804" y1="43333" x2="30804" y2="43333"/>
                          <a14:backgroundMark x1="30804" y1="43333" x2="30804" y2="43333"/>
                          <a14:backgroundMark x1="30357" y1="43333" x2="30357" y2="43333"/>
                          <a14:backgroundMark x1="30357" y1="43333" x2="30357" y2="43333"/>
                          <a14:backgroundMark x1="30357" y1="42963" x2="30357" y2="42963"/>
                          <a14:backgroundMark x1="30246" y1="42963" x2="30246" y2="42963"/>
                          <a14:backgroundMark x1="30246" y1="42963" x2="30246" y2="42963"/>
                          <a14:backgroundMark x1="30022" y1="43333" x2="30022" y2="43333"/>
                          <a14:backgroundMark x1="30022" y1="43519" x2="30022" y2="43519"/>
                          <a14:backgroundMark x1="30022" y1="43519" x2="30022" y2="43519"/>
                          <a14:backgroundMark x1="34933" y1="52963" x2="34933" y2="52963"/>
                          <a14:backgroundMark x1="35156" y1="52778" x2="35156" y2="52778"/>
                          <a14:backgroundMark x1="35603" y1="51852" x2="35603" y2="51852"/>
                          <a14:backgroundMark x1="35603" y1="51852" x2="35603" y2="51852"/>
                          <a14:backgroundMark x1="35603" y1="51852" x2="35603" y2="51852"/>
                          <a14:backgroundMark x1="35268" y1="52222" x2="35268" y2="52222"/>
                          <a14:backgroundMark x1="35156" y1="52778" x2="35156" y2="52778"/>
                          <a14:backgroundMark x1="35156" y1="51481" x2="35156" y2="51481"/>
                          <a14:backgroundMark x1="34375" y1="50185" x2="35268" y2="51111"/>
                          <a14:backgroundMark x1="33929" y1="51111" x2="35268" y2="51667"/>
                          <a14:backgroundMark x1="35603" y1="52407" x2="35603" y2="52407"/>
                          <a14:backgroundMark x1="35938" y1="52222" x2="35938" y2="52222"/>
                          <a14:backgroundMark x1="35938" y1="52222" x2="35938" y2="52222"/>
                          <a14:backgroundMark x1="35603" y1="51667" x2="35603" y2="51667"/>
                          <a14:backgroundMark x1="35603" y1="51667" x2="35603" y2="51667"/>
                          <a14:backgroundMark x1="35603" y1="51667" x2="35603" y2="51667"/>
                          <a14:backgroundMark x1="35603" y1="51481" x2="35603" y2="51481"/>
                          <a14:backgroundMark x1="35603" y1="51481" x2="35603" y2="51481"/>
                          <a14:backgroundMark x1="35603" y1="51111" x2="35603" y2="51111"/>
                          <a14:backgroundMark x1="35379" y1="51111" x2="36049" y2="53519"/>
                          <a14:backgroundMark x1="33147" y1="44815" x2="33147" y2="44815"/>
                          <a14:backgroundMark x1="33147" y1="44815" x2="33147" y2="44815"/>
                          <a14:backgroundMark x1="33147" y1="43519" x2="33147" y2="43519"/>
                          <a14:backgroundMark x1="32924" y1="44074" x2="32924" y2="44074"/>
                          <a14:backgroundMark x1="32924" y1="44074" x2="32924" y2="44074"/>
                          <a14:backgroundMark x1="33147" y1="43519" x2="33147" y2="43519"/>
                          <a14:backgroundMark x1="33147" y1="43519" x2="33147" y2="43519"/>
                          <a14:backgroundMark x1="32924" y1="43704" x2="32924" y2="43704"/>
                          <a14:backgroundMark x1="32924" y1="44074" x2="32924" y2="44074"/>
                          <a14:backgroundMark x1="32924" y1="43704" x2="32924" y2="43704"/>
                          <a14:backgroundMark x1="31138" y1="42778" x2="31138" y2="42778"/>
                          <a14:backgroundMark x1="30692" y1="42778" x2="30692" y2="42778"/>
                          <a14:backgroundMark x1="30692" y1="42778" x2="30692" y2="42778"/>
                          <a14:backgroundMark x1="30692" y1="42778" x2="30692" y2="42778"/>
                          <a14:backgroundMark x1="30692" y1="42778" x2="30692" y2="42778"/>
                          <a14:backgroundMark x1="30246" y1="43704" x2="30246" y2="43704"/>
                          <a14:backgroundMark x1="30022" y1="43519" x2="30022" y2="43519"/>
                          <a14:backgroundMark x1="29911" y1="43519" x2="29911" y2="43519"/>
                          <a14:backgroundMark x1="29911" y1="43519" x2="29911" y2="43519"/>
                          <a14:backgroundMark x1="29911" y1="43519" x2="29911" y2="43519"/>
                          <a14:backgroundMark x1="29911" y1="43519" x2="29911" y2="43519"/>
                          <a14:backgroundMark x1="29911" y1="43519" x2="29911" y2="43519"/>
                          <a14:backgroundMark x1="30022" y1="41296" x2="30469" y2="44259"/>
                          <a14:backgroundMark x1="29911" y1="42778" x2="30469" y2="45370"/>
                          <a14:backgroundMark x1="34487" y1="42222" x2="34040" y2="44074"/>
                          <a14:backgroundMark x1="34487" y1="42593" x2="35714" y2="44074"/>
                          <a14:backgroundMark x1="31585" y1="40741" x2="31585" y2="40741"/>
                          <a14:backgroundMark x1="31585" y1="40741" x2="31585" y2="40741"/>
                          <a14:backgroundMark x1="19531" y1="40000" x2="24107" y2="46852"/>
                          <a14:backgroundMark x1="24330" y1="46481" x2="24330" y2="46481"/>
                          <a14:backgroundMark x1="24442" y1="47407" x2="24442" y2="47407"/>
                          <a14:backgroundMark x1="24665" y1="46852" x2="24665" y2="46852"/>
                          <a14:backgroundMark x1="24665" y1="46852" x2="24665" y2="46852"/>
                          <a14:backgroundMark x1="24665" y1="46852" x2="24665" y2="46852"/>
                          <a14:backgroundMark x1="24665" y1="46852" x2="24665" y2="46852"/>
                          <a14:backgroundMark x1="24665" y1="46852" x2="24665" y2="46852"/>
                          <a14:backgroundMark x1="24442" y1="46667" x2="24442" y2="46667"/>
                          <a14:backgroundMark x1="24442" y1="46111" x2="24442" y2="46111"/>
                          <a14:backgroundMark x1="24442" y1="46481" x2="24442" y2="46481"/>
                          <a14:backgroundMark x1="24665" y1="47407" x2="24665" y2="47407"/>
                          <a14:backgroundMark x1="24665" y1="47407" x2="24665" y2="47407"/>
                          <a14:backgroundMark x1="24442" y1="46852" x2="24442" y2="46852"/>
                          <a14:backgroundMark x1="24330" y1="46481" x2="24330" y2="46481"/>
                          <a14:backgroundMark x1="24330" y1="46852" x2="24330" y2="46852"/>
                          <a14:backgroundMark x1="24442" y1="46852" x2="24442" y2="46852"/>
                          <a14:backgroundMark x1="24442" y1="45926" x2="24442" y2="45926"/>
                          <a14:backgroundMark x1="24665" y1="46852" x2="24665" y2="46852"/>
                          <a14:backgroundMark x1="24665" y1="46852" x2="24665" y2="46852"/>
                          <a14:backgroundMark x1="24777" y1="49630" x2="24777" y2="49630"/>
                          <a14:backgroundMark x1="24666" y1="49630" x2="25112" y2="50000"/>
                          <a14:backgroundMark x1="23326" y1="48519" x2="24666" y2="49630"/>
                          <a14:backgroundMark x1="25095" y1="49630" x2="25335" y2="50000"/>
                          <a14:backgroundMark x1="23772" y1="47593" x2="25095" y2="49630"/>
                          <a14:backgroundMark x1="25123" y1="49630" x2="25670" y2="50185"/>
                          <a14:backgroundMark x1="23661" y1="48148" x2="25123" y2="49630"/>
                          <a14:backgroundMark x1="23549" y1="47778" x2="38058" y2="58519"/>
                          <a14:backgroundMark x1="38504" y1="46296" x2="37612" y2="58519"/>
                          <a14:backgroundMark x1="33594" y1="35556" x2="32031" y2="38889"/>
                          <a14:backgroundMark x1="26004" y1="55926" x2="25558" y2="58889"/>
                          <a14:backgroundMark x1="36719" y1="44074" x2="32254" y2="38148"/>
                          <a14:backgroundMark x1="30022" y1="36667" x2="33817" y2="44074"/>
                          <a14:backgroundMark x1="33371" y1="40000" x2="37835" y2="50000"/>
                          <a14:backgroundMark x1="36719" y1="43333" x2="38504" y2="49259"/>
                          <a14:backgroundMark x1="23103" y1="52222" x2="26004" y2="58889"/>
                          <a14:backgroundMark x1="25335" y1="54074" x2="27790" y2="59630"/>
                        </a14:backgroundRemoval>
                      </a14:imgEffect>
                    </a14:imgLayer>
                  </a14:imgProps>
                </a:ext>
              </a:extLst>
            </a:blip>
            <a:srcRect l="12269" r="14135"/>
            <a:stretch/>
          </p:blipFill>
          <p:spPr>
            <a:xfrm>
              <a:off x="10884609" y="658368"/>
              <a:ext cx="1804366" cy="147761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50800" dir="2700000" algn="ctr" rotWithShape="0">
                <a:srgbClr val="000000">
                  <a:alpha val="20000"/>
                </a:srgbClr>
              </a:outerShdw>
            </a:effectLst>
          </p:spPr>
        </p:pic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B523C0D8-2FDC-9650-5F86-8ED5AA4558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88008" y="1352861"/>
              <a:ext cx="137160" cy="13716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93FB4320-FE6C-CEDB-C7B2-7376F00B002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6617" y="1004845"/>
              <a:ext cx="137160" cy="13716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856474F4-B109-A5CF-8CDC-C0011EF3F1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69046" y="1352861"/>
              <a:ext cx="137160" cy="13716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6" name="Arc 1045">
              <a:extLst>
                <a:ext uri="{FF2B5EF4-FFF2-40B4-BE49-F238E27FC236}">
                  <a16:creationId xmlns:a16="http://schemas.microsoft.com/office/drawing/2014/main" id="{51D6524F-A6FA-7810-4D85-58A12BB9A514}"/>
                </a:ext>
              </a:extLst>
            </p:cNvPr>
            <p:cNvSpPr/>
            <p:nvPr/>
          </p:nvSpPr>
          <p:spPr>
            <a:xfrm rot="5400000">
              <a:off x="9107382" y="2835227"/>
              <a:ext cx="296821" cy="296821"/>
            </a:xfrm>
            <a:prstGeom prst="arc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60904594-900D-555B-5291-DADAF7C0A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1167" y="1324123"/>
              <a:ext cx="0" cy="4467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555B0788-AB10-0BE1-08EC-C284D9433BC9}"/>
                </a:ext>
              </a:extLst>
            </p:cNvPr>
            <p:cNvSpPr txBox="1"/>
            <p:nvPr/>
          </p:nvSpPr>
          <p:spPr>
            <a:xfrm>
              <a:off x="8516621" y="731185"/>
              <a:ext cx="24517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400" dirty="0">
                  <a:latin typeface="Avenir Next" panose="020B0503020202020204" pitchFamily="34" charset="0"/>
                </a:rPr>
                <a:t>Learn to denoise </a:t>
              </a:r>
              <a:r>
                <a:rPr lang="en-US" altLang="zh-TW" sz="1400" b="1" dirty="0">
                  <a:latin typeface="Avenir Next" panose="020B0503020202020204" pitchFamily="34" charset="0"/>
                </a:rPr>
                <a:t>actions</a:t>
              </a:r>
              <a:endParaRPr lang="en-US" sz="1400" b="1" dirty="0">
                <a:latin typeface="Avenir Next" panose="020B05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81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1290</TotalTime>
  <Words>36</Words>
  <Application>Microsoft Macintosh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Avenir Next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Wei-Chiu Ma</dc:creator>
  <cp:lastModifiedBy>Maximus Adrian Pace</cp:lastModifiedBy>
  <cp:revision>13</cp:revision>
  <cp:lastPrinted>2025-09-16T20:30:14Z</cp:lastPrinted>
  <dcterms:created xsi:type="dcterms:W3CDTF">2025-09-15T04:55:56Z</dcterms:created>
  <dcterms:modified xsi:type="dcterms:W3CDTF">2025-10-21T23:57:20Z</dcterms:modified>
</cp:coreProperties>
</file>